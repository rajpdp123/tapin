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64" r:id="rId14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1" Type="http://schemas.openxmlformats.org/officeDocument/2006/relationships/slide" Target="slides/slide4.xml"/><Relationship Id="rId14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3a0ac14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3a0ac14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6fb35a48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6fb35a48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6fb35a481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6fb35a48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3a0ac14b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3a0ac14b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376525"/>
            <a:ext cx="8520600" cy="442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Font typeface="Outfit ExtraBold"/>
              <a:buNone/>
              <a:defRPr b="0" sz="8000"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accen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11700" y="376525"/>
            <a:ext cx="8520600" cy="442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Outfit ExtraBold"/>
              <a:buNone/>
              <a:defRPr b="0" sz="8000">
                <a:solidFill>
                  <a:schemeClr val="lt2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270" y="376525"/>
            <a:ext cx="537030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chemeClr val="accent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224775"/>
            <a:ext cx="566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566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1">
  <p:cSld name="TITLE_AND_BODY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95688"/>
            <a:ext cx="41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67713"/>
            <a:ext cx="40377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/>
          <p:nvPr>
            <p:ph idx="2" type="pic"/>
          </p:nvPr>
        </p:nvSpPr>
        <p:spPr>
          <a:xfrm rot="252153">
            <a:off x="4834760" y="733645"/>
            <a:ext cx="3676184" cy="3676184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2">
  <p:cSld name="TITLE_AND_BODY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331550" y="795688"/>
            <a:ext cx="41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331550" y="1867713"/>
            <a:ext cx="40377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8" name="Google Shape;3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/>
          <p:nvPr>
            <p:ph idx="2" type="pic"/>
          </p:nvPr>
        </p:nvSpPr>
        <p:spPr>
          <a:xfrm rot="-201823">
            <a:off x="450975" y="733629"/>
            <a:ext cx="3676233" cy="3676233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3">
  <p:cSld name="TITLE_AND_BODY_1_1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691400" y="795688"/>
            <a:ext cx="41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691400" y="1867713"/>
            <a:ext cx="40377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4" name="Google Shape;4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/>
          <p:nvPr>
            <p:ph idx="2" type="pic"/>
          </p:nvPr>
        </p:nvSpPr>
        <p:spPr>
          <a:xfrm>
            <a:off x="0" y="-25"/>
            <a:ext cx="4395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4">
  <p:cSld name="TITLE_AND_BODY_1_1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502700" y="795688"/>
            <a:ext cx="414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502700" y="1867713"/>
            <a:ext cx="4037700" cy="24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" name="Google Shape;50;p10"/>
          <p:cNvSpPr/>
          <p:nvPr>
            <p:ph idx="2" type="pic"/>
          </p:nvPr>
        </p:nvSpPr>
        <p:spPr>
          <a:xfrm>
            <a:off x="4748700" y="-25"/>
            <a:ext cx="4395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xes" type="twoColTx">
  <p:cSld name="TITLE_AND_TWO_COLUMNS">
    <p:bg>
      <p:bgPr>
        <a:solidFill>
          <a:schemeClr val="accen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311700" y="224772"/>
            <a:ext cx="8520600" cy="54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11"/>
          <p:cNvSpPr/>
          <p:nvPr/>
        </p:nvSpPr>
        <p:spPr>
          <a:xfrm>
            <a:off x="391600" y="1235050"/>
            <a:ext cx="2650800" cy="3416400"/>
          </a:xfrm>
          <a:prstGeom prst="roundRect">
            <a:avLst>
              <a:gd fmla="val 88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595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56" name="Google Shape;5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270" y="376525"/>
            <a:ext cx="537030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1"/>
          <p:cNvSpPr txBox="1"/>
          <p:nvPr>
            <p:ph idx="2" type="subTitle"/>
          </p:nvPr>
        </p:nvSpPr>
        <p:spPr>
          <a:xfrm>
            <a:off x="595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utfit ExtraBold"/>
              <a:buNone/>
              <a:defRPr>
                <a:solidFill>
                  <a:schemeClr val="accent2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/>
          <p:nvPr/>
        </p:nvSpPr>
        <p:spPr>
          <a:xfrm>
            <a:off x="3246600" y="1235050"/>
            <a:ext cx="2650800" cy="3416400"/>
          </a:xfrm>
          <a:prstGeom prst="roundRect">
            <a:avLst>
              <a:gd fmla="val 88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9" name="Google Shape;59;p11"/>
          <p:cNvSpPr txBox="1"/>
          <p:nvPr>
            <p:ph idx="3" type="body"/>
          </p:nvPr>
        </p:nvSpPr>
        <p:spPr>
          <a:xfrm>
            <a:off x="3450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0" name="Google Shape;60;p11"/>
          <p:cNvSpPr txBox="1"/>
          <p:nvPr>
            <p:ph idx="4" type="subTitle"/>
          </p:nvPr>
        </p:nvSpPr>
        <p:spPr>
          <a:xfrm>
            <a:off x="3450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utfit ExtraBold"/>
              <a:buNone/>
              <a:defRPr>
                <a:solidFill>
                  <a:schemeClr val="accent2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/>
          <p:nvPr/>
        </p:nvSpPr>
        <p:spPr>
          <a:xfrm>
            <a:off x="6101600" y="1235050"/>
            <a:ext cx="2650800" cy="3416400"/>
          </a:xfrm>
          <a:prstGeom prst="roundRect">
            <a:avLst>
              <a:gd fmla="val 88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2" name="Google Shape;62;p11"/>
          <p:cNvSpPr txBox="1"/>
          <p:nvPr>
            <p:ph idx="5" type="body"/>
          </p:nvPr>
        </p:nvSpPr>
        <p:spPr>
          <a:xfrm>
            <a:off x="6305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6" type="subTitle"/>
          </p:nvPr>
        </p:nvSpPr>
        <p:spPr>
          <a:xfrm>
            <a:off x="6305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utfit ExtraBold"/>
              <a:buNone/>
              <a:defRPr>
                <a:solidFill>
                  <a:schemeClr val="accent2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TITLE_AND_TWO_COLUMNS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311700" y="224775"/>
            <a:ext cx="8256000" cy="54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" name="Google Shape;6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595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68" name="Google Shape;68;p12"/>
          <p:cNvSpPr txBox="1"/>
          <p:nvPr>
            <p:ph idx="2" type="subTitle"/>
          </p:nvPr>
        </p:nvSpPr>
        <p:spPr>
          <a:xfrm>
            <a:off x="595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utfit ExtraBold"/>
              <a:buNone/>
              <a:defRPr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3" type="body"/>
          </p:nvPr>
        </p:nvSpPr>
        <p:spPr>
          <a:xfrm>
            <a:off x="3450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4" type="subTitle"/>
          </p:nvPr>
        </p:nvSpPr>
        <p:spPr>
          <a:xfrm>
            <a:off x="3450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utfit ExtraBold"/>
              <a:buNone/>
              <a:defRPr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5" type="body"/>
          </p:nvPr>
        </p:nvSpPr>
        <p:spPr>
          <a:xfrm>
            <a:off x="6305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2" name="Google Shape;72;p12"/>
          <p:cNvSpPr txBox="1"/>
          <p:nvPr>
            <p:ph idx="6" type="subTitle"/>
          </p:nvPr>
        </p:nvSpPr>
        <p:spPr>
          <a:xfrm>
            <a:off x="6305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utfit ExtraBold"/>
              <a:buNone/>
              <a:defRPr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73" name="Google Shape;7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490250" y="5263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">
  <p:cSld name="BLANK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6"/>
          <p:cNvSpPr/>
          <p:nvPr>
            <p:ph idx="2" type="pic"/>
          </p:nvPr>
        </p:nvSpPr>
        <p:spPr>
          <a:xfrm>
            <a:off x="314400" y="270750"/>
            <a:ext cx="4257600" cy="4602000"/>
          </a:xfrm>
          <a:prstGeom prst="roundRect">
            <a:avLst>
              <a:gd fmla="val 5823" name="adj"/>
            </a:avLst>
          </a:prstGeom>
          <a:noFill/>
          <a:ln>
            <a:noFill/>
          </a:ln>
        </p:spPr>
      </p:sp>
      <p:sp>
        <p:nvSpPr>
          <p:cNvPr id="87" name="Google Shape;87;p16"/>
          <p:cNvSpPr/>
          <p:nvPr>
            <p:ph idx="3" type="pic"/>
          </p:nvPr>
        </p:nvSpPr>
        <p:spPr>
          <a:xfrm>
            <a:off x="4801500" y="270750"/>
            <a:ext cx="4028100" cy="2380200"/>
          </a:xfrm>
          <a:prstGeom prst="roundRect">
            <a:avLst>
              <a:gd fmla="val 8310" name="adj"/>
            </a:avLst>
          </a:prstGeom>
          <a:noFill/>
          <a:ln>
            <a:noFill/>
          </a:ln>
        </p:spPr>
      </p:sp>
      <p:sp>
        <p:nvSpPr>
          <p:cNvPr id="88" name="Google Shape;88;p16"/>
          <p:cNvSpPr/>
          <p:nvPr>
            <p:ph idx="4" type="pic"/>
          </p:nvPr>
        </p:nvSpPr>
        <p:spPr>
          <a:xfrm>
            <a:off x="4801500" y="2868975"/>
            <a:ext cx="4028100" cy="2003700"/>
          </a:xfrm>
          <a:prstGeom prst="roundRect">
            <a:avLst>
              <a:gd fmla="val 831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1">
  <p:cSld name="BLANK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1" name="Google Shape;91;p17"/>
          <p:cNvSpPr/>
          <p:nvPr>
            <p:ph idx="2" type="pic"/>
          </p:nvPr>
        </p:nvSpPr>
        <p:spPr>
          <a:xfrm>
            <a:off x="3375025" y="270750"/>
            <a:ext cx="5435100" cy="4602000"/>
          </a:xfrm>
          <a:prstGeom prst="roundRect">
            <a:avLst>
              <a:gd fmla="val 5711" name="adj"/>
            </a:avLst>
          </a:prstGeom>
          <a:noFill/>
          <a:ln>
            <a:noFill/>
          </a:ln>
        </p:spPr>
      </p:sp>
      <p:sp>
        <p:nvSpPr>
          <p:cNvPr id="92" name="Google Shape;92;p17"/>
          <p:cNvSpPr/>
          <p:nvPr>
            <p:ph idx="3" type="pic"/>
          </p:nvPr>
        </p:nvSpPr>
        <p:spPr>
          <a:xfrm>
            <a:off x="333875" y="270750"/>
            <a:ext cx="2816100" cy="2380200"/>
          </a:xfrm>
          <a:prstGeom prst="roundRect">
            <a:avLst>
              <a:gd fmla="val 8310" name="adj"/>
            </a:avLst>
          </a:prstGeom>
          <a:noFill/>
          <a:ln>
            <a:noFill/>
          </a:ln>
        </p:spPr>
      </p:sp>
      <p:sp>
        <p:nvSpPr>
          <p:cNvPr id="93" name="Google Shape;93;p17"/>
          <p:cNvSpPr/>
          <p:nvPr>
            <p:ph idx="4" type="pic"/>
          </p:nvPr>
        </p:nvSpPr>
        <p:spPr>
          <a:xfrm>
            <a:off x="333875" y="2868975"/>
            <a:ext cx="2816100" cy="2003700"/>
          </a:xfrm>
          <a:prstGeom prst="roundRect">
            <a:avLst>
              <a:gd fmla="val 831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"/>
              <a:buNone/>
              <a:defRPr b="1" sz="2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ungee"/>
              <a:buNone/>
              <a:defRPr sz="2800">
                <a:solidFill>
                  <a:schemeClr val="dk1"/>
                </a:solidFill>
                <a:latin typeface="Bungee"/>
                <a:ea typeface="Bungee"/>
                <a:cs typeface="Bungee"/>
                <a:sym typeface="Bung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eist"/>
              <a:buChar char="●"/>
              <a:defRPr sz="1800"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○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■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●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○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■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●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○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eist"/>
              <a:buChar char="■"/>
              <a:defRPr>
                <a:solidFill>
                  <a:schemeClr val="dk2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E7D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ctrTitle"/>
          </p:nvPr>
        </p:nvSpPr>
        <p:spPr>
          <a:xfrm>
            <a:off x="311700" y="376525"/>
            <a:ext cx="8520600" cy="442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TAPIN.</a:t>
            </a:r>
            <a:endParaRPr/>
          </a:p>
          <a:p>
            <a:r>
              <a:rPr sz="1800"/>
              <a:t>Zero-friction loyalty for boutique studios.</a:t>
            </a:r>
          </a:p>
          <a:p>
            <a:r>
              <a:rPr sz="1000"/>
              <a:t/>
            </a:r>
          </a:p>
          <a:p>
            <a:r>
              <a:rPr sz="1200" i="1"/>
              <a:t>Le Wagon Berlin  |  Project Week  |  Full-Stack (Rails + JS)</a:t>
            </a:r>
          </a:p>
          <a:p>
            <a:r>
              <a:rPr sz="1200"/>
              <a:t>Raj  |  Good Moves Pilates Studio, Berlin</a:t>
            </a:r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0" l="0" r="40635" t="0"/>
          <a:stretch/>
        </p:blipFill>
        <p:spPr>
          <a:xfrm>
            <a:off x="6509150" y="1199075"/>
            <a:ext cx="2634850" cy="344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5300" y="376525"/>
            <a:ext cx="537001" cy="2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224775"/>
            <a:ext cx="566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THE PROBLEM</a:t>
            </a:r>
            <a:endParaRPr/>
          </a:p>
          <a:p>
            <a:r>
              <a:rPr sz="2000" b="1"/>
              <a:t>You fill seats. Someone else keeps the customer.</a:t>
            </a: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566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sz="1400">
                <a:solidFill>
                  <a:srgbClr val="B0482D"/>
                </a:solidFill>
              </a:rPr>
              <a:t>The Aggregator Trap</a:t>
            </a:r>
            <a:endParaRPr/>
          </a:p>
          <a:p>
            <a:r>
              <a:rPr sz="1100"/>
              <a:t>&lt; 2% of aggregator users convert to full members. Platforms like Urban Sports Club own the customer relationship — studios fill seats but build someone else's brand.</a:t>
            </a:r>
          </a:p>
          <a:p>
            <a:r>
              <a:rPr sz="800"/>
              <a:t/>
            </a:r>
          </a:p>
          <a:p>
            <a:r>
              <a:rPr b="1" sz="1400">
                <a:solidFill>
                  <a:srgbClr val="001DA2"/>
                </a:solidFill>
              </a:rPr>
              <a:t>The Retention Math</a:t>
            </a:r>
          </a:p>
          <a:p>
            <a:r>
              <a:rPr sz="1100"/>
              <a:t>It's 5× cheaper to retain than acquire a customer. +5% retention → +25–95% profit. Every aggregator walk-in who never returns is a missed relationship.</a:t>
            </a:r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 b="47235" l="0" r="0" t="0"/>
          <a:stretch/>
        </p:blipFill>
        <p:spPr>
          <a:xfrm>
            <a:off x="3926625" y="2841400"/>
            <a:ext cx="4072099" cy="230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224772"/>
            <a:ext cx="8520600" cy="54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THE SOLUTION</a:t>
            </a:r>
            <a:endParaRPr/>
          </a:p>
          <a:p>
            <a:r>
              <a:rPr sz="1800" b="1"/>
              <a:t>One tap. No app. Real loyalty.</a:t>
            </a:r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595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Customer taps NFC tag at the front desk, types phone number once (first visit only).</a:t>
            </a:r>
            <a:endParaRPr/>
          </a:p>
        </p:txBody>
      </p:sp>
      <p:sp>
        <p:nvSpPr>
          <p:cNvPr id="165" name="Google Shape;165;p26"/>
          <p:cNvSpPr txBox="1"/>
          <p:nvPr>
            <p:ph idx="2" type="subTitle"/>
          </p:nvPr>
        </p:nvSpPr>
        <p:spPr>
          <a:xfrm>
            <a:off x="595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Tap &amp; Enter</a:t>
            </a:r>
            <a:endParaRPr/>
          </a:p>
        </p:txBody>
      </p:sp>
      <p:sp>
        <p:nvSpPr>
          <p:cNvPr id="166" name="Google Shape;166;p26"/>
          <p:cNvSpPr txBox="1"/>
          <p:nvPr>
            <p:ph idx="3" type="body"/>
          </p:nvPr>
        </p:nvSpPr>
        <p:spPr>
          <a:xfrm>
            <a:off x="3450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Each visit is logged automatically. Progress is visible instantly on their phone.</a:t>
            </a:r>
            <a:endParaRPr/>
          </a:p>
        </p:txBody>
      </p:sp>
      <p:sp>
        <p:nvSpPr>
          <p:cNvPr id="167" name="Google Shape;167;p26"/>
          <p:cNvSpPr txBox="1"/>
          <p:nvPr>
            <p:ph idx="4" type="subTitle"/>
          </p:nvPr>
        </p:nvSpPr>
        <p:spPr>
          <a:xfrm>
            <a:off x="3450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Track</a:t>
            </a:r>
            <a:endParaRPr/>
          </a:p>
        </p:txBody>
      </p:sp>
      <p:sp>
        <p:nvSpPr>
          <p:cNvPr id="168" name="Google Shape;168;p26"/>
          <p:cNvSpPr txBox="1"/>
          <p:nvPr>
            <p:ph idx="5" type="body"/>
          </p:nvPr>
        </p:nvSpPr>
        <p:spPr>
          <a:xfrm>
            <a:off x="6305325" y="2288650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9 check-ins = 10th class free. Zero apps, zero friction — just a mobile web page.</a:t>
            </a:r>
            <a:endParaRPr/>
          </a:p>
        </p:txBody>
      </p:sp>
      <p:sp>
        <p:nvSpPr>
          <p:cNvPr id="169" name="Google Shape;169;p26"/>
          <p:cNvSpPr txBox="1"/>
          <p:nvPr>
            <p:ph idx="6" type="subTitle"/>
          </p:nvPr>
        </p:nvSpPr>
        <p:spPr>
          <a:xfrm>
            <a:off x="6305325" y="1448600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Reward</a:t>
            </a:r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888888"/>
                </a:solidFill>
              </a:rPr>
              <a:t>Built with Rails + Stimulus + PWA  •  NFC opens a mobile web page — zero downloads, zero friction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224775"/>
            <a:ext cx="8256000" cy="54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WHY THIS PROJECT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595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Good Moves Studio loses customers to aggregators every week. This solves a problem I live with as a studio manager.</a:t>
            </a:r>
            <a:endParaRPr/>
          </a:p>
        </p:txBody>
      </p:sp>
      <p:sp>
        <p:nvSpPr>
          <p:cNvPr id="137" name="Google Shape;137;p23"/>
          <p:cNvSpPr txBox="1"/>
          <p:nvPr>
            <p:ph idx="2" type="subTitle"/>
          </p:nvPr>
        </p:nvSpPr>
        <p:spPr>
          <a:xfrm>
            <a:off x="595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Real business need</a:t>
            </a:r>
            <a:endParaRPr/>
          </a:p>
        </p:txBody>
      </p:sp>
      <p:sp>
        <p:nvSpPr>
          <p:cNvPr id="138" name="Google Shape;138;p23"/>
          <p:cNvSpPr txBox="1"/>
          <p:nvPr>
            <p:ph idx="3" type="body"/>
          </p:nvPr>
        </p:nvSpPr>
        <p:spPr>
          <a:xfrm>
            <a:off x="3450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One user flow, four models (User, Studio, Visit, Reward), Rails + Stimulus + PWA. Clear, demoable scope.</a:t>
            </a:r>
            <a:endParaRPr/>
          </a:p>
        </p:txBody>
      </p:sp>
      <p:sp>
        <p:nvSpPr>
          <p:cNvPr id="139" name="Google Shape;139;p23"/>
          <p:cNvSpPr txBox="1"/>
          <p:nvPr>
            <p:ph idx="4" type="subTitle"/>
          </p:nvPr>
        </p:nvSpPr>
        <p:spPr>
          <a:xfrm>
            <a:off x="3450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Right-sized for project week</a:t>
            </a:r>
            <a:endParaRPr/>
          </a:p>
        </p:txBody>
      </p:sp>
      <p:sp>
        <p:nvSpPr>
          <p:cNvPr id="140" name="Google Shape;140;p23"/>
          <p:cNvSpPr txBox="1"/>
          <p:nvPr>
            <p:ph idx="5" type="body"/>
          </p:nvPr>
        </p:nvSpPr>
        <p:spPr>
          <a:xfrm>
            <a:off x="6305325" y="2528726"/>
            <a:ext cx="2262300" cy="22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NFC tag on stage → phone opens → check-in logged → progress shown. The demo sells itself.</a:t>
            </a:r>
            <a:endParaRPr/>
          </a:p>
        </p:txBody>
      </p:sp>
      <p:sp>
        <p:nvSpPr>
          <p:cNvPr id="141" name="Google Shape;141;p23"/>
          <p:cNvSpPr txBox="1"/>
          <p:nvPr>
            <p:ph idx="6" type="subTitle"/>
          </p:nvPr>
        </p:nvSpPr>
        <p:spPr>
          <a:xfrm>
            <a:off x="6305325" y="1688676"/>
            <a:ext cx="2262300" cy="61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Demo-ready on pitch day</a:t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 rotWithShape="1">
          <a:blip r:embed="rId3">
            <a:alphaModFix/>
          </a:blip>
          <a:srcRect b="59987" l="0" r="0" t="0"/>
          <a:stretch/>
        </p:blipFill>
        <p:spPr>
          <a:xfrm>
            <a:off x="2650600" y="4154525"/>
            <a:ext cx="3183801" cy="98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ood Moves">
  <a:themeElements>
    <a:clrScheme name="Simple Light">
      <a:dk1>
        <a:srgbClr val="000044"/>
      </a:dk1>
      <a:lt1>
        <a:srgbClr val="FDE7DA"/>
      </a:lt1>
      <a:dk2>
        <a:srgbClr val="4E4E6F"/>
      </a:dk2>
      <a:lt2>
        <a:srgbClr val="FBF6F1"/>
      </a:lt2>
      <a:accent1>
        <a:srgbClr val="B0482D"/>
      </a:accent1>
      <a:accent2>
        <a:srgbClr val="001DA2"/>
      </a:accent2>
      <a:accent3>
        <a:srgbClr val="3C4CAB"/>
      </a:accent3>
      <a:accent4>
        <a:srgbClr val="787CB4"/>
      </a:accent4>
      <a:accent5>
        <a:srgbClr val="D09179"/>
      </a:accent5>
      <a:accent6>
        <a:srgbClr val="C06D53"/>
      </a:accent6>
      <a:hlink>
        <a:srgbClr val="0022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