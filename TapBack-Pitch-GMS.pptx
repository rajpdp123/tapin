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4" r:id="rId4"/>
  </p:sldMasterIdLst>
  <p:notesMasterIdLst>
    <p:notesMasterId r:id="rId5"/>
  </p:notesMasterIdLst>
  <p:sldIdLst>
    <p:sldId id="256" r:id="rId6"/>
    <p:sldId id="257" r:id="rId7"/>
    <p:sldId id="264" r:id="rId14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11" Type="http://schemas.openxmlformats.org/officeDocument/2006/relationships/slide" Target="slides/slide4.xml"/><Relationship Id="rId14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93a0ac14b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93a0ac14b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c6fb35a481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c6fb35a481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c6fb35a481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c6fb35a481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93a0ac14b0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93a0ac14b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0" y="376525"/>
            <a:ext cx="8520600" cy="442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8000"/>
              <a:buFont typeface="Outfit ExtraBold"/>
              <a:buNone/>
              <a:defRPr b="0" sz="8000"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lvl="1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95300" y="376525"/>
            <a:ext cx="537001" cy="26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bg>
      <p:bgPr>
        <a:solidFill>
          <a:schemeClr val="accent2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ctrTitle"/>
          </p:nvPr>
        </p:nvSpPr>
        <p:spPr>
          <a:xfrm>
            <a:off x="311700" y="376525"/>
            <a:ext cx="8520600" cy="442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Font typeface="Outfit ExtraBold"/>
              <a:buNone/>
              <a:defRPr b="0" sz="8000">
                <a:solidFill>
                  <a:schemeClr val="lt2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lvl="1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6" name="Google Shape;16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95270" y="376525"/>
            <a:ext cx="537030" cy="26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bg>
      <p:bgPr>
        <a:solidFill>
          <a:schemeClr val="accent2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311700" y="224775"/>
            <a:ext cx="5667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" type="body"/>
          </p:nvPr>
        </p:nvSpPr>
        <p:spPr>
          <a:xfrm>
            <a:off x="311700" y="1152475"/>
            <a:ext cx="5667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7" name="Google Shape;2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95300" y="376525"/>
            <a:ext cx="537001" cy="26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+ Image 1">
  <p:cSld name="TITLE_AND_BODY_1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795688"/>
            <a:ext cx="414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867713"/>
            <a:ext cx="4037700" cy="248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2" name="Google Shape;32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95300" y="376525"/>
            <a:ext cx="537001" cy="2692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7"/>
          <p:cNvSpPr/>
          <p:nvPr>
            <p:ph idx="2" type="pic"/>
          </p:nvPr>
        </p:nvSpPr>
        <p:spPr>
          <a:xfrm rot="252153">
            <a:off x="4834760" y="733645"/>
            <a:ext cx="3676184" cy="3676184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+ Image 2">
  <p:cSld name="TITLE_AND_BODY_1_1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331550" y="795688"/>
            <a:ext cx="414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1" type="body"/>
          </p:nvPr>
        </p:nvSpPr>
        <p:spPr>
          <a:xfrm>
            <a:off x="4331550" y="1867713"/>
            <a:ext cx="4037700" cy="248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8" name="Google Shape;38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95300" y="376525"/>
            <a:ext cx="537001" cy="2692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8"/>
          <p:cNvSpPr/>
          <p:nvPr>
            <p:ph idx="2" type="pic"/>
          </p:nvPr>
        </p:nvSpPr>
        <p:spPr>
          <a:xfrm rot="-201823">
            <a:off x="450975" y="733629"/>
            <a:ext cx="3676233" cy="3676233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+ Image 3">
  <p:cSld name="TITLE_AND_BODY_1_1_1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/>
          <p:nvPr>
            <p:ph type="title"/>
          </p:nvPr>
        </p:nvSpPr>
        <p:spPr>
          <a:xfrm>
            <a:off x="4691400" y="795688"/>
            <a:ext cx="414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" type="body"/>
          </p:nvPr>
        </p:nvSpPr>
        <p:spPr>
          <a:xfrm>
            <a:off x="4691400" y="1867713"/>
            <a:ext cx="4037700" cy="248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44" name="Google Shape;44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95300" y="376525"/>
            <a:ext cx="537001" cy="2692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9"/>
          <p:cNvSpPr/>
          <p:nvPr>
            <p:ph idx="2" type="pic"/>
          </p:nvPr>
        </p:nvSpPr>
        <p:spPr>
          <a:xfrm>
            <a:off x="0" y="-25"/>
            <a:ext cx="43953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+ Image 4">
  <p:cSld name="TITLE_AND_BODY_1_1_1_1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type="title"/>
          </p:nvPr>
        </p:nvSpPr>
        <p:spPr>
          <a:xfrm>
            <a:off x="502700" y="795688"/>
            <a:ext cx="414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" name="Google Shape;48;p10"/>
          <p:cNvSpPr txBox="1"/>
          <p:nvPr>
            <p:ph idx="1" type="body"/>
          </p:nvPr>
        </p:nvSpPr>
        <p:spPr>
          <a:xfrm>
            <a:off x="502700" y="1867713"/>
            <a:ext cx="4037700" cy="248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0" name="Google Shape;50;p10"/>
          <p:cNvSpPr/>
          <p:nvPr>
            <p:ph idx="2" type="pic"/>
          </p:nvPr>
        </p:nvSpPr>
        <p:spPr>
          <a:xfrm>
            <a:off x="4748700" y="-25"/>
            <a:ext cx="43953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oxes" type="twoColTx">
  <p:cSld name="TITLE_AND_TWO_COLUMNS">
    <p:bg>
      <p:bgPr>
        <a:solidFill>
          <a:schemeClr val="accent2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 txBox="1"/>
          <p:nvPr>
            <p:ph type="title"/>
          </p:nvPr>
        </p:nvSpPr>
        <p:spPr>
          <a:xfrm>
            <a:off x="311700" y="224772"/>
            <a:ext cx="8520600" cy="54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 sz="4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53" name="Google Shape;53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4" name="Google Shape;54;p11"/>
          <p:cNvSpPr/>
          <p:nvPr/>
        </p:nvSpPr>
        <p:spPr>
          <a:xfrm>
            <a:off x="391600" y="1235050"/>
            <a:ext cx="2650800" cy="3416400"/>
          </a:xfrm>
          <a:prstGeom prst="roundRect">
            <a:avLst>
              <a:gd fmla="val 880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595325" y="2288650"/>
            <a:ext cx="2262300" cy="221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pic>
        <p:nvPicPr>
          <p:cNvPr id="56" name="Google Shape;5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95270" y="376525"/>
            <a:ext cx="537030" cy="2692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1"/>
          <p:cNvSpPr txBox="1"/>
          <p:nvPr>
            <p:ph idx="2" type="subTitle"/>
          </p:nvPr>
        </p:nvSpPr>
        <p:spPr>
          <a:xfrm>
            <a:off x="595325" y="1448600"/>
            <a:ext cx="2262300" cy="61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Outfit ExtraBold"/>
              <a:buNone/>
              <a:defRPr>
                <a:solidFill>
                  <a:schemeClr val="accent2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1"/>
          <p:cNvSpPr/>
          <p:nvPr/>
        </p:nvSpPr>
        <p:spPr>
          <a:xfrm>
            <a:off x="3246600" y="1235050"/>
            <a:ext cx="2650800" cy="3416400"/>
          </a:xfrm>
          <a:prstGeom prst="roundRect">
            <a:avLst>
              <a:gd fmla="val 880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59" name="Google Shape;59;p11"/>
          <p:cNvSpPr txBox="1"/>
          <p:nvPr>
            <p:ph idx="3" type="body"/>
          </p:nvPr>
        </p:nvSpPr>
        <p:spPr>
          <a:xfrm>
            <a:off x="3450325" y="2288650"/>
            <a:ext cx="2262300" cy="221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60" name="Google Shape;60;p11"/>
          <p:cNvSpPr txBox="1"/>
          <p:nvPr>
            <p:ph idx="4" type="subTitle"/>
          </p:nvPr>
        </p:nvSpPr>
        <p:spPr>
          <a:xfrm>
            <a:off x="3450325" y="1448600"/>
            <a:ext cx="2262300" cy="61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Outfit ExtraBold"/>
              <a:buNone/>
              <a:defRPr>
                <a:solidFill>
                  <a:schemeClr val="accent2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/>
          <p:nvPr/>
        </p:nvSpPr>
        <p:spPr>
          <a:xfrm>
            <a:off x="6101600" y="1235050"/>
            <a:ext cx="2650800" cy="3416400"/>
          </a:xfrm>
          <a:prstGeom prst="roundRect">
            <a:avLst>
              <a:gd fmla="val 880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62" name="Google Shape;62;p11"/>
          <p:cNvSpPr txBox="1"/>
          <p:nvPr>
            <p:ph idx="5" type="body"/>
          </p:nvPr>
        </p:nvSpPr>
        <p:spPr>
          <a:xfrm>
            <a:off x="6305325" y="2288650"/>
            <a:ext cx="2262300" cy="221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63" name="Google Shape;63;p11"/>
          <p:cNvSpPr txBox="1"/>
          <p:nvPr>
            <p:ph idx="6" type="subTitle"/>
          </p:nvPr>
        </p:nvSpPr>
        <p:spPr>
          <a:xfrm>
            <a:off x="6305325" y="1448600"/>
            <a:ext cx="2262300" cy="61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Outfit ExtraBold"/>
              <a:buNone/>
              <a:defRPr>
                <a:solidFill>
                  <a:schemeClr val="accent2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">
  <p:cSld name="TITLE_AND_TWO_COLUMNS_1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 txBox="1"/>
          <p:nvPr>
            <p:ph type="title"/>
          </p:nvPr>
        </p:nvSpPr>
        <p:spPr>
          <a:xfrm>
            <a:off x="311700" y="224775"/>
            <a:ext cx="8256000" cy="54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6" name="Google Shape;66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7" name="Google Shape;67;p12"/>
          <p:cNvSpPr txBox="1"/>
          <p:nvPr>
            <p:ph idx="1" type="body"/>
          </p:nvPr>
        </p:nvSpPr>
        <p:spPr>
          <a:xfrm>
            <a:off x="595325" y="2528726"/>
            <a:ext cx="2262300" cy="221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68" name="Google Shape;68;p12"/>
          <p:cNvSpPr txBox="1"/>
          <p:nvPr>
            <p:ph idx="2" type="subTitle"/>
          </p:nvPr>
        </p:nvSpPr>
        <p:spPr>
          <a:xfrm>
            <a:off x="595325" y="1688676"/>
            <a:ext cx="2262300" cy="61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utfit ExtraBold"/>
              <a:buNone/>
              <a:defRPr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69" name="Google Shape;69;p12"/>
          <p:cNvSpPr txBox="1"/>
          <p:nvPr>
            <p:ph idx="3" type="body"/>
          </p:nvPr>
        </p:nvSpPr>
        <p:spPr>
          <a:xfrm>
            <a:off x="3450325" y="2528726"/>
            <a:ext cx="2262300" cy="221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70" name="Google Shape;70;p12"/>
          <p:cNvSpPr txBox="1"/>
          <p:nvPr>
            <p:ph idx="4" type="subTitle"/>
          </p:nvPr>
        </p:nvSpPr>
        <p:spPr>
          <a:xfrm>
            <a:off x="3450325" y="1688676"/>
            <a:ext cx="2262300" cy="61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utfit ExtraBold"/>
              <a:buNone/>
              <a:defRPr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71" name="Google Shape;71;p12"/>
          <p:cNvSpPr txBox="1"/>
          <p:nvPr>
            <p:ph idx="5" type="body"/>
          </p:nvPr>
        </p:nvSpPr>
        <p:spPr>
          <a:xfrm>
            <a:off x="6305325" y="2528726"/>
            <a:ext cx="2262300" cy="221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72" name="Google Shape;72;p12"/>
          <p:cNvSpPr txBox="1"/>
          <p:nvPr>
            <p:ph idx="6" type="subTitle"/>
          </p:nvPr>
        </p:nvSpPr>
        <p:spPr>
          <a:xfrm>
            <a:off x="6305325" y="1688676"/>
            <a:ext cx="2262300" cy="61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utfit ExtraBold"/>
              <a:buNone/>
              <a:defRPr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73" name="Google Shape;73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95300" y="376525"/>
            <a:ext cx="537001" cy="26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77" name="Google Shape;77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95300" y="376525"/>
            <a:ext cx="537001" cy="26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title"/>
          </p:nvPr>
        </p:nvSpPr>
        <p:spPr>
          <a:xfrm>
            <a:off x="490250" y="5263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0" name="Google Shape;80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81" name="Google Shape;8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95300" y="376525"/>
            <a:ext cx="537001" cy="26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s">
  <p:cSld name="BLANK_1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6"/>
          <p:cNvSpPr/>
          <p:nvPr>
            <p:ph idx="2" type="pic"/>
          </p:nvPr>
        </p:nvSpPr>
        <p:spPr>
          <a:xfrm>
            <a:off x="314400" y="270750"/>
            <a:ext cx="4257600" cy="4602000"/>
          </a:xfrm>
          <a:prstGeom prst="roundRect">
            <a:avLst>
              <a:gd fmla="val 5823" name="adj"/>
            </a:avLst>
          </a:prstGeom>
          <a:noFill/>
          <a:ln>
            <a:noFill/>
          </a:ln>
        </p:spPr>
      </p:sp>
      <p:sp>
        <p:nvSpPr>
          <p:cNvPr id="87" name="Google Shape;87;p16"/>
          <p:cNvSpPr/>
          <p:nvPr>
            <p:ph idx="3" type="pic"/>
          </p:nvPr>
        </p:nvSpPr>
        <p:spPr>
          <a:xfrm>
            <a:off x="4801500" y="270750"/>
            <a:ext cx="4028100" cy="2380200"/>
          </a:xfrm>
          <a:prstGeom prst="roundRect">
            <a:avLst>
              <a:gd fmla="val 8310" name="adj"/>
            </a:avLst>
          </a:prstGeom>
          <a:noFill/>
          <a:ln>
            <a:noFill/>
          </a:ln>
        </p:spPr>
      </p:sp>
      <p:sp>
        <p:nvSpPr>
          <p:cNvPr id="88" name="Google Shape;88;p16"/>
          <p:cNvSpPr/>
          <p:nvPr>
            <p:ph idx="4" type="pic"/>
          </p:nvPr>
        </p:nvSpPr>
        <p:spPr>
          <a:xfrm>
            <a:off x="4801500" y="2868975"/>
            <a:ext cx="4028100" cy="2003700"/>
          </a:xfrm>
          <a:prstGeom prst="roundRect">
            <a:avLst>
              <a:gd fmla="val 8310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s 1">
  <p:cSld name="BLANK_1_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1" name="Google Shape;91;p17"/>
          <p:cNvSpPr/>
          <p:nvPr>
            <p:ph idx="2" type="pic"/>
          </p:nvPr>
        </p:nvSpPr>
        <p:spPr>
          <a:xfrm>
            <a:off x="3375025" y="270750"/>
            <a:ext cx="5435100" cy="4602000"/>
          </a:xfrm>
          <a:prstGeom prst="roundRect">
            <a:avLst>
              <a:gd fmla="val 5711" name="adj"/>
            </a:avLst>
          </a:prstGeom>
          <a:noFill/>
          <a:ln>
            <a:noFill/>
          </a:ln>
        </p:spPr>
      </p:sp>
      <p:sp>
        <p:nvSpPr>
          <p:cNvPr id="92" name="Google Shape;92;p17"/>
          <p:cNvSpPr/>
          <p:nvPr>
            <p:ph idx="3" type="pic"/>
          </p:nvPr>
        </p:nvSpPr>
        <p:spPr>
          <a:xfrm>
            <a:off x="333875" y="270750"/>
            <a:ext cx="2816100" cy="2380200"/>
          </a:xfrm>
          <a:prstGeom prst="roundRect">
            <a:avLst>
              <a:gd fmla="val 8310" name="adj"/>
            </a:avLst>
          </a:prstGeom>
          <a:noFill/>
          <a:ln>
            <a:noFill/>
          </a:ln>
        </p:spPr>
      </p:sp>
      <p:sp>
        <p:nvSpPr>
          <p:cNvPr id="93" name="Google Shape;93;p17"/>
          <p:cNvSpPr/>
          <p:nvPr>
            <p:ph idx="4" type="pic"/>
          </p:nvPr>
        </p:nvSpPr>
        <p:spPr>
          <a:xfrm>
            <a:off x="333875" y="2868975"/>
            <a:ext cx="2816100" cy="2003700"/>
          </a:xfrm>
          <a:prstGeom prst="roundRect">
            <a:avLst>
              <a:gd fmla="val 8310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utfit"/>
              <a:buNone/>
              <a:defRPr b="1" sz="2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ungee"/>
              <a:buNone/>
              <a:defRPr sz="2800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ungee"/>
              <a:buNone/>
              <a:defRPr sz="2800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ungee"/>
              <a:buNone/>
              <a:defRPr sz="2800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ungee"/>
              <a:buNone/>
              <a:defRPr sz="2800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ungee"/>
              <a:buNone/>
              <a:defRPr sz="2800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ungee"/>
              <a:buNone/>
              <a:defRPr sz="2800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ungee"/>
              <a:buNone/>
              <a:defRPr sz="2800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ungee"/>
              <a:buNone/>
              <a:defRPr sz="2800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eist"/>
              <a:buChar char="●"/>
              <a:defRPr sz="1800">
                <a:solidFill>
                  <a:schemeClr val="dk2"/>
                </a:solidFill>
                <a:latin typeface="Geist"/>
                <a:ea typeface="Geist"/>
                <a:cs typeface="Geist"/>
                <a:sym typeface="Geis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eist"/>
              <a:buChar char="○"/>
              <a:defRPr>
                <a:solidFill>
                  <a:schemeClr val="dk2"/>
                </a:solidFill>
                <a:latin typeface="Geist"/>
                <a:ea typeface="Geist"/>
                <a:cs typeface="Geist"/>
                <a:sym typeface="Geis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eist"/>
              <a:buChar char="■"/>
              <a:defRPr>
                <a:solidFill>
                  <a:schemeClr val="dk2"/>
                </a:solidFill>
                <a:latin typeface="Geist"/>
                <a:ea typeface="Geist"/>
                <a:cs typeface="Geist"/>
                <a:sym typeface="Geis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eist"/>
              <a:buChar char="●"/>
              <a:defRPr>
                <a:solidFill>
                  <a:schemeClr val="dk2"/>
                </a:solidFill>
                <a:latin typeface="Geist"/>
                <a:ea typeface="Geist"/>
                <a:cs typeface="Geist"/>
                <a:sym typeface="Geis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eist"/>
              <a:buChar char="○"/>
              <a:defRPr>
                <a:solidFill>
                  <a:schemeClr val="dk2"/>
                </a:solidFill>
                <a:latin typeface="Geist"/>
                <a:ea typeface="Geist"/>
                <a:cs typeface="Geist"/>
                <a:sym typeface="Geis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eist"/>
              <a:buChar char="■"/>
              <a:defRPr>
                <a:solidFill>
                  <a:schemeClr val="dk2"/>
                </a:solidFill>
                <a:latin typeface="Geist"/>
                <a:ea typeface="Geist"/>
                <a:cs typeface="Geist"/>
                <a:sym typeface="Geis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eist"/>
              <a:buChar char="●"/>
              <a:defRPr>
                <a:solidFill>
                  <a:schemeClr val="dk2"/>
                </a:solidFill>
                <a:latin typeface="Geist"/>
                <a:ea typeface="Geist"/>
                <a:cs typeface="Geist"/>
                <a:sym typeface="Geis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eist"/>
              <a:buChar char="○"/>
              <a:defRPr>
                <a:solidFill>
                  <a:schemeClr val="dk2"/>
                </a:solidFill>
                <a:latin typeface="Geist"/>
                <a:ea typeface="Geist"/>
                <a:cs typeface="Geist"/>
                <a:sym typeface="Geis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eist"/>
              <a:buChar char="■"/>
              <a:defRPr>
                <a:solidFill>
                  <a:schemeClr val="dk2"/>
                </a:solidFill>
                <a:latin typeface="Geist"/>
                <a:ea typeface="Geist"/>
                <a:cs typeface="Geist"/>
                <a:sym typeface="Geis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E7DA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type="ctrTitle"/>
          </p:nvPr>
        </p:nvSpPr>
        <p:spPr>
          <a:xfrm>
            <a:off x="311700" y="376525"/>
            <a:ext cx="8520600" cy="442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TAPBACK.</a:t>
            </a:r>
            <a:endParaRPr/>
          </a:p>
          <a:p>
            <a:r>
              <a:rPr sz="1800"/>
              <a:t>Zero-friction loyalty for boutique studios.</a:t>
            </a:r>
          </a:p>
          <a:p>
            <a:r>
              <a:rPr sz="1000"/>
              <a:t/>
            </a:r>
          </a:p>
          <a:p>
            <a:r>
              <a:rPr sz="1200" i="1"/>
              <a:t>Le Wagon Berlin  |  Project Week  |  Full-Stack (Rails + JS)</a:t>
            </a:r>
          </a:p>
          <a:p>
            <a:r>
              <a:rPr sz="1200"/>
              <a:t>Raj  |  Good Moves Pilates Studio, Berlin</a:t>
            </a:r>
          </a:p>
        </p:txBody>
      </p:sp>
      <p:pic>
        <p:nvPicPr>
          <p:cNvPr id="99" name="Google Shape;99;p18"/>
          <p:cNvPicPr preferRelativeResize="0"/>
          <p:nvPr/>
        </p:nvPicPr>
        <p:blipFill rotWithShape="1">
          <a:blip r:embed="rId3">
            <a:alphaModFix/>
          </a:blip>
          <a:srcRect b="0" l="0" r="40635" t="0"/>
          <a:stretch/>
        </p:blipFill>
        <p:spPr>
          <a:xfrm>
            <a:off x="6509150" y="1199075"/>
            <a:ext cx="2634850" cy="3445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95300" y="376525"/>
            <a:ext cx="537001" cy="26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311700" y="224775"/>
            <a:ext cx="5667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THE PROBLEM</a:t>
            </a:r>
            <a:endParaRPr/>
          </a:p>
          <a:p>
            <a:r>
              <a:rPr sz="2000" b="1"/>
              <a:t>You fill seats. Someone else keeps the customer.</a:t>
            </a:r>
          </a:p>
        </p:txBody>
      </p:sp>
      <p:sp>
        <p:nvSpPr>
          <p:cNvPr id="106" name="Google Shape;106;p19"/>
          <p:cNvSpPr txBox="1"/>
          <p:nvPr>
            <p:ph idx="1" type="body"/>
          </p:nvPr>
        </p:nvSpPr>
        <p:spPr>
          <a:xfrm>
            <a:off x="311700" y="1152475"/>
            <a:ext cx="5667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sz="1400">
                <a:solidFill>
                  <a:srgbClr val="B0482D"/>
                </a:solidFill>
              </a:rPr>
              <a:t>The Aggregator Trap</a:t>
            </a:r>
            <a:endParaRPr/>
          </a:p>
          <a:p>
            <a:r>
              <a:rPr sz="1100"/>
              <a:t>&lt; 2% of aggregator users convert to full members. Platforms like Urban Sports Club own the customer relationship — studios fill seats but build someone else's brand.</a:t>
            </a:r>
          </a:p>
          <a:p>
            <a:r>
              <a:rPr sz="800"/>
              <a:t/>
            </a:r>
          </a:p>
          <a:p>
            <a:r>
              <a:rPr b="1" sz="1400">
                <a:solidFill>
                  <a:srgbClr val="001DA2"/>
                </a:solidFill>
              </a:rPr>
              <a:t>The Retention Math</a:t>
            </a:r>
          </a:p>
          <a:p>
            <a:r>
              <a:rPr sz="1100"/>
              <a:t>It's 5× cheaper to retain than acquire a customer. +5% retention → +25–95% profit. Every aggregator walk-in who never returns is a missed relationship.</a:t>
            </a:r>
          </a:p>
        </p:txBody>
      </p:sp>
      <p:pic>
        <p:nvPicPr>
          <p:cNvPr id="107" name="Google Shape;107;p19"/>
          <p:cNvPicPr preferRelativeResize="0"/>
          <p:nvPr/>
        </p:nvPicPr>
        <p:blipFill rotWithShape="1">
          <a:blip r:embed="rId3">
            <a:alphaModFix/>
          </a:blip>
          <a:srcRect b="47235" l="0" r="0" t="0"/>
          <a:stretch/>
        </p:blipFill>
        <p:spPr>
          <a:xfrm>
            <a:off x="3926625" y="2841400"/>
            <a:ext cx="4072099" cy="2302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6"/>
          <p:cNvSpPr txBox="1"/>
          <p:nvPr>
            <p:ph type="title"/>
          </p:nvPr>
        </p:nvSpPr>
        <p:spPr>
          <a:xfrm>
            <a:off x="311700" y="224772"/>
            <a:ext cx="8520600" cy="54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THE SOLUTION</a:t>
            </a:r>
            <a:endParaRPr/>
          </a:p>
          <a:p>
            <a:r>
              <a:rPr sz="1800" b="1"/>
              <a:t>One tap. No app. Real loyalty.</a:t>
            </a:r>
          </a:p>
        </p:txBody>
      </p:sp>
      <p:sp>
        <p:nvSpPr>
          <p:cNvPr id="164" name="Google Shape;164;p26"/>
          <p:cNvSpPr txBox="1"/>
          <p:nvPr>
            <p:ph idx="1" type="body"/>
          </p:nvPr>
        </p:nvSpPr>
        <p:spPr>
          <a:xfrm>
            <a:off x="595325" y="2288650"/>
            <a:ext cx="2262300" cy="221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Customer taps NFC tag at the front desk, types phone number once (first visit only).</a:t>
            </a:r>
            <a:endParaRPr/>
          </a:p>
        </p:txBody>
      </p:sp>
      <p:sp>
        <p:nvSpPr>
          <p:cNvPr id="165" name="Google Shape;165;p26"/>
          <p:cNvSpPr txBox="1"/>
          <p:nvPr>
            <p:ph idx="2" type="subTitle"/>
          </p:nvPr>
        </p:nvSpPr>
        <p:spPr>
          <a:xfrm>
            <a:off x="595325" y="1448600"/>
            <a:ext cx="2262300" cy="61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Tap &amp; Enter</a:t>
            </a:r>
            <a:endParaRPr/>
          </a:p>
        </p:txBody>
      </p:sp>
      <p:sp>
        <p:nvSpPr>
          <p:cNvPr id="166" name="Google Shape;166;p26"/>
          <p:cNvSpPr txBox="1"/>
          <p:nvPr>
            <p:ph idx="3" type="body"/>
          </p:nvPr>
        </p:nvSpPr>
        <p:spPr>
          <a:xfrm>
            <a:off x="3450325" y="2288650"/>
            <a:ext cx="2262300" cy="221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Each visit is logged automatically. Progress is visible instantly on their phone.</a:t>
            </a:r>
            <a:endParaRPr/>
          </a:p>
        </p:txBody>
      </p:sp>
      <p:sp>
        <p:nvSpPr>
          <p:cNvPr id="167" name="Google Shape;167;p26"/>
          <p:cNvSpPr txBox="1"/>
          <p:nvPr>
            <p:ph idx="4" type="subTitle"/>
          </p:nvPr>
        </p:nvSpPr>
        <p:spPr>
          <a:xfrm>
            <a:off x="3450325" y="1448600"/>
            <a:ext cx="2262300" cy="61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Track</a:t>
            </a:r>
            <a:endParaRPr/>
          </a:p>
        </p:txBody>
      </p:sp>
      <p:sp>
        <p:nvSpPr>
          <p:cNvPr id="168" name="Google Shape;168;p26"/>
          <p:cNvSpPr txBox="1"/>
          <p:nvPr>
            <p:ph idx="5" type="body"/>
          </p:nvPr>
        </p:nvSpPr>
        <p:spPr>
          <a:xfrm>
            <a:off x="6305325" y="2288650"/>
            <a:ext cx="2262300" cy="221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9 check-ins = 10th class free. Zero apps, zero friction — just a mobile web page.</a:t>
            </a:r>
            <a:endParaRPr/>
          </a:p>
        </p:txBody>
      </p:sp>
      <p:sp>
        <p:nvSpPr>
          <p:cNvPr id="169" name="Google Shape;169;p26"/>
          <p:cNvSpPr txBox="1"/>
          <p:nvPr>
            <p:ph idx="6" type="subTitle"/>
          </p:nvPr>
        </p:nvSpPr>
        <p:spPr>
          <a:xfrm>
            <a:off x="6305325" y="1448600"/>
            <a:ext cx="2262300" cy="61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Reward</a:t>
            </a:r>
            <a:endParaRPr/>
          </a:p>
        </p:txBody>
      </p:sp>
      <p:sp>
        <p:nvSpPr>
          <p:cNvPr id="170" name="TextBox 169"/>
          <p:cNvSpPr txBox="1"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i="1">
                <a:solidFill>
                  <a:srgbClr val="888888"/>
                </a:solidFill>
              </a:rPr>
              <a:t>Built with Rails + Stimulus + PWA  •  NFC opens a mobile web page — zero downloads, zero friction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 txBox="1"/>
          <p:nvPr>
            <p:ph type="title"/>
          </p:nvPr>
        </p:nvSpPr>
        <p:spPr>
          <a:xfrm>
            <a:off x="311700" y="224775"/>
            <a:ext cx="8256000" cy="54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WHY THIS PROJECT</a:t>
            </a:r>
            <a:endParaRPr/>
          </a:p>
        </p:txBody>
      </p:sp>
      <p:sp>
        <p:nvSpPr>
          <p:cNvPr id="136" name="Google Shape;136;p23"/>
          <p:cNvSpPr txBox="1"/>
          <p:nvPr>
            <p:ph idx="1" type="body"/>
          </p:nvPr>
        </p:nvSpPr>
        <p:spPr>
          <a:xfrm>
            <a:off x="595325" y="2528726"/>
            <a:ext cx="2262300" cy="221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Good Moves Studio loses customers to aggregators every week. This solves a problem I live with as a studio manager.</a:t>
            </a:r>
            <a:endParaRPr/>
          </a:p>
        </p:txBody>
      </p:sp>
      <p:sp>
        <p:nvSpPr>
          <p:cNvPr id="137" name="Google Shape;137;p23"/>
          <p:cNvSpPr txBox="1"/>
          <p:nvPr>
            <p:ph idx="2" type="subTitle"/>
          </p:nvPr>
        </p:nvSpPr>
        <p:spPr>
          <a:xfrm>
            <a:off x="595325" y="1688676"/>
            <a:ext cx="2262300" cy="61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Real business need</a:t>
            </a:r>
            <a:endParaRPr/>
          </a:p>
        </p:txBody>
      </p:sp>
      <p:sp>
        <p:nvSpPr>
          <p:cNvPr id="138" name="Google Shape;138;p23"/>
          <p:cNvSpPr txBox="1"/>
          <p:nvPr>
            <p:ph idx="3" type="body"/>
          </p:nvPr>
        </p:nvSpPr>
        <p:spPr>
          <a:xfrm>
            <a:off x="3450325" y="2528726"/>
            <a:ext cx="2262300" cy="221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One user flow, four models (User, Studio, Visit, Reward), Rails + Stimulus + PWA. Clear, demoable scope.</a:t>
            </a:r>
            <a:endParaRPr/>
          </a:p>
        </p:txBody>
      </p:sp>
      <p:sp>
        <p:nvSpPr>
          <p:cNvPr id="139" name="Google Shape;139;p23"/>
          <p:cNvSpPr txBox="1"/>
          <p:nvPr>
            <p:ph idx="4" type="subTitle"/>
          </p:nvPr>
        </p:nvSpPr>
        <p:spPr>
          <a:xfrm>
            <a:off x="3450325" y="1688676"/>
            <a:ext cx="2262300" cy="61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Right-sized for project week</a:t>
            </a:r>
            <a:endParaRPr/>
          </a:p>
        </p:txBody>
      </p:sp>
      <p:sp>
        <p:nvSpPr>
          <p:cNvPr id="140" name="Google Shape;140;p23"/>
          <p:cNvSpPr txBox="1"/>
          <p:nvPr>
            <p:ph idx="5" type="body"/>
          </p:nvPr>
        </p:nvSpPr>
        <p:spPr>
          <a:xfrm>
            <a:off x="6305325" y="2528726"/>
            <a:ext cx="2262300" cy="221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NFC tag on stage → phone opens → check-in logged → progress shown. The demo sells itself.</a:t>
            </a:r>
            <a:endParaRPr/>
          </a:p>
        </p:txBody>
      </p:sp>
      <p:sp>
        <p:nvSpPr>
          <p:cNvPr id="141" name="Google Shape;141;p23"/>
          <p:cNvSpPr txBox="1"/>
          <p:nvPr>
            <p:ph idx="6" type="subTitle"/>
          </p:nvPr>
        </p:nvSpPr>
        <p:spPr>
          <a:xfrm>
            <a:off x="6305325" y="1688676"/>
            <a:ext cx="2262300" cy="61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Demo-ready on pitch day</a:t>
            </a:r>
            <a:endParaRPr/>
          </a:p>
        </p:txBody>
      </p:sp>
      <p:pic>
        <p:nvPicPr>
          <p:cNvPr id="142" name="Google Shape;142;p23"/>
          <p:cNvPicPr preferRelativeResize="0"/>
          <p:nvPr/>
        </p:nvPicPr>
        <p:blipFill rotWithShape="1">
          <a:blip r:embed="rId3">
            <a:alphaModFix/>
          </a:blip>
          <a:srcRect b="59987" l="0" r="0" t="0"/>
          <a:stretch/>
        </p:blipFill>
        <p:spPr>
          <a:xfrm>
            <a:off x="2650600" y="4154525"/>
            <a:ext cx="3183801" cy="98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ood Moves">
  <a:themeElements>
    <a:clrScheme name="Simple Light">
      <a:dk1>
        <a:srgbClr val="000044"/>
      </a:dk1>
      <a:lt1>
        <a:srgbClr val="FDE7DA"/>
      </a:lt1>
      <a:dk2>
        <a:srgbClr val="4E4E6F"/>
      </a:dk2>
      <a:lt2>
        <a:srgbClr val="FBF6F1"/>
      </a:lt2>
      <a:accent1>
        <a:srgbClr val="B0482D"/>
      </a:accent1>
      <a:accent2>
        <a:srgbClr val="001DA2"/>
      </a:accent2>
      <a:accent3>
        <a:srgbClr val="3C4CAB"/>
      </a:accent3>
      <a:accent4>
        <a:srgbClr val="787CB4"/>
      </a:accent4>
      <a:accent5>
        <a:srgbClr val="D09179"/>
      </a:accent5>
      <a:accent6>
        <a:srgbClr val="C06D53"/>
      </a:accent6>
      <a:hlink>
        <a:srgbClr val="0022C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