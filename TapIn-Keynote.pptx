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376525"/>
            <a:ext cx="8520600" cy="442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Font typeface="Outfit ExtraBold"/>
              <a:buNone/>
              <a:defRPr b="0" sz="8000"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accen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311700" y="376525"/>
            <a:ext cx="8520600" cy="442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Outfit ExtraBold"/>
              <a:buNone/>
              <a:defRPr b="0" sz="8000">
                <a:solidFill>
                  <a:schemeClr val="lt2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270" y="376525"/>
            <a:ext cx="537030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chemeClr val="accent2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224775"/>
            <a:ext cx="566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566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1">
  <p:cSld name="TITLE_AND_BODY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95688"/>
            <a:ext cx="41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67713"/>
            <a:ext cx="4037700" cy="24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2" name="Google Shape;3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/>
          <p:nvPr>
            <p:ph idx="2" type="pic"/>
          </p:nvPr>
        </p:nvSpPr>
        <p:spPr>
          <a:xfrm rot="252153">
            <a:off x="4834760" y="733645"/>
            <a:ext cx="3676184" cy="3676184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2">
  <p:cSld name="TITLE_AND_BODY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331550" y="795688"/>
            <a:ext cx="41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331550" y="1867713"/>
            <a:ext cx="4037700" cy="24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8" name="Google Shape;3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/>
          <p:nvPr>
            <p:ph idx="2" type="pic"/>
          </p:nvPr>
        </p:nvSpPr>
        <p:spPr>
          <a:xfrm rot="-201823">
            <a:off x="450975" y="733629"/>
            <a:ext cx="3676233" cy="3676233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3">
  <p:cSld name="TITLE_AND_BODY_1_1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691400" y="795688"/>
            <a:ext cx="41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691400" y="1867713"/>
            <a:ext cx="4037700" cy="24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4" name="Google Shape;4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/>
          <p:nvPr>
            <p:ph idx="2" type="pic"/>
          </p:nvPr>
        </p:nvSpPr>
        <p:spPr>
          <a:xfrm>
            <a:off x="0" y="-25"/>
            <a:ext cx="43953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4">
  <p:cSld name="TITLE_AND_BODY_1_1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502700" y="795688"/>
            <a:ext cx="41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502700" y="1867713"/>
            <a:ext cx="4037700" cy="24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" name="Google Shape;50;p10"/>
          <p:cNvSpPr/>
          <p:nvPr>
            <p:ph idx="2" type="pic"/>
          </p:nvPr>
        </p:nvSpPr>
        <p:spPr>
          <a:xfrm>
            <a:off x="4748700" y="-25"/>
            <a:ext cx="43953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oxes" type="twoColTx">
  <p:cSld name="TITLE_AND_TWO_COLUMNS">
    <p:bg>
      <p:bgPr>
        <a:solidFill>
          <a:schemeClr val="accen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311700" y="224772"/>
            <a:ext cx="8520600" cy="54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sz="4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" name="Google Shape;54;p11"/>
          <p:cNvSpPr/>
          <p:nvPr/>
        </p:nvSpPr>
        <p:spPr>
          <a:xfrm>
            <a:off x="391600" y="1235050"/>
            <a:ext cx="2650800" cy="3416400"/>
          </a:xfrm>
          <a:prstGeom prst="roundRect">
            <a:avLst>
              <a:gd fmla="val 88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595325" y="2288650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pic>
        <p:nvPicPr>
          <p:cNvPr id="56" name="Google Shape;5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270" y="376525"/>
            <a:ext cx="537030" cy="2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1"/>
          <p:cNvSpPr txBox="1"/>
          <p:nvPr>
            <p:ph idx="2" type="subTitle"/>
          </p:nvPr>
        </p:nvSpPr>
        <p:spPr>
          <a:xfrm>
            <a:off x="595325" y="1448600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Outfit ExtraBold"/>
              <a:buNone/>
              <a:defRPr>
                <a:solidFill>
                  <a:schemeClr val="accent2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/>
          <p:nvPr/>
        </p:nvSpPr>
        <p:spPr>
          <a:xfrm>
            <a:off x="3246600" y="1235050"/>
            <a:ext cx="2650800" cy="3416400"/>
          </a:xfrm>
          <a:prstGeom prst="roundRect">
            <a:avLst>
              <a:gd fmla="val 88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9" name="Google Shape;59;p11"/>
          <p:cNvSpPr txBox="1"/>
          <p:nvPr>
            <p:ph idx="3" type="body"/>
          </p:nvPr>
        </p:nvSpPr>
        <p:spPr>
          <a:xfrm>
            <a:off x="3450325" y="2288650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0" name="Google Shape;60;p11"/>
          <p:cNvSpPr txBox="1"/>
          <p:nvPr>
            <p:ph idx="4" type="subTitle"/>
          </p:nvPr>
        </p:nvSpPr>
        <p:spPr>
          <a:xfrm>
            <a:off x="3450325" y="1448600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Outfit ExtraBold"/>
              <a:buNone/>
              <a:defRPr>
                <a:solidFill>
                  <a:schemeClr val="accent2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/>
          <p:nvPr/>
        </p:nvSpPr>
        <p:spPr>
          <a:xfrm>
            <a:off x="6101600" y="1235050"/>
            <a:ext cx="2650800" cy="3416400"/>
          </a:xfrm>
          <a:prstGeom prst="roundRect">
            <a:avLst>
              <a:gd fmla="val 88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2" name="Google Shape;62;p11"/>
          <p:cNvSpPr txBox="1"/>
          <p:nvPr>
            <p:ph idx="5" type="body"/>
          </p:nvPr>
        </p:nvSpPr>
        <p:spPr>
          <a:xfrm>
            <a:off x="6305325" y="2288650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6" type="subTitle"/>
          </p:nvPr>
        </p:nvSpPr>
        <p:spPr>
          <a:xfrm>
            <a:off x="6305325" y="1448600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Outfit ExtraBold"/>
              <a:buNone/>
              <a:defRPr>
                <a:solidFill>
                  <a:schemeClr val="accent2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TITLE_AND_TWO_COLUMNS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311700" y="224775"/>
            <a:ext cx="8256000" cy="54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" name="Google Shape;6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595325" y="2528726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8" name="Google Shape;68;p12"/>
          <p:cNvSpPr txBox="1"/>
          <p:nvPr>
            <p:ph idx="2" type="subTitle"/>
          </p:nvPr>
        </p:nvSpPr>
        <p:spPr>
          <a:xfrm>
            <a:off x="595325" y="1688676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utfit ExtraBold"/>
              <a:buNone/>
              <a:defRPr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idx="3" type="body"/>
          </p:nvPr>
        </p:nvSpPr>
        <p:spPr>
          <a:xfrm>
            <a:off x="3450325" y="2528726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4" type="subTitle"/>
          </p:nvPr>
        </p:nvSpPr>
        <p:spPr>
          <a:xfrm>
            <a:off x="3450325" y="1688676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utfit ExtraBold"/>
              <a:buNone/>
              <a:defRPr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5" type="body"/>
          </p:nvPr>
        </p:nvSpPr>
        <p:spPr>
          <a:xfrm>
            <a:off x="6305325" y="2528726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2" name="Google Shape;72;p12"/>
          <p:cNvSpPr txBox="1"/>
          <p:nvPr>
            <p:ph idx="6" type="subTitle"/>
          </p:nvPr>
        </p:nvSpPr>
        <p:spPr>
          <a:xfrm>
            <a:off x="6305325" y="1688676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utfit ExtraBold"/>
              <a:buNone/>
              <a:defRPr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3" name="Google Shape;7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490250" y="5263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">
  <p:cSld name="BLANK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6"/>
          <p:cNvSpPr/>
          <p:nvPr>
            <p:ph idx="2" type="pic"/>
          </p:nvPr>
        </p:nvSpPr>
        <p:spPr>
          <a:xfrm>
            <a:off x="314400" y="270750"/>
            <a:ext cx="4257600" cy="4602000"/>
          </a:xfrm>
          <a:prstGeom prst="roundRect">
            <a:avLst>
              <a:gd fmla="val 5823" name="adj"/>
            </a:avLst>
          </a:prstGeom>
          <a:noFill/>
          <a:ln>
            <a:noFill/>
          </a:ln>
        </p:spPr>
      </p:sp>
      <p:sp>
        <p:nvSpPr>
          <p:cNvPr id="87" name="Google Shape;87;p16"/>
          <p:cNvSpPr/>
          <p:nvPr>
            <p:ph idx="3" type="pic"/>
          </p:nvPr>
        </p:nvSpPr>
        <p:spPr>
          <a:xfrm>
            <a:off x="4801500" y="270750"/>
            <a:ext cx="4028100" cy="2380200"/>
          </a:xfrm>
          <a:prstGeom prst="roundRect">
            <a:avLst>
              <a:gd fmla="val 8310" name="adj"/>
            </a:avLst>
          </a:prstGeom>
          <a:noFill/>
          <a:ln>
            <a:noFill/>
          </a:ln>
        </p:spPr>
      </p:sp>
      <p:sp>
        <p:nvSpPr>
          <p:cNvPr id="88" name="Google Shape;88;p16"/>
          <p:cNvSpPr/>
          <p:nvPr>
            <p:ph idx="4" type="pic"/>
          </p:nvPr>
        </p:nvSpPr>
        <p:spPr>
          <a:xfrm>
            <a:off x="4801500" y="2868975"/>
            <a:ext cx="4028100" cy="2003700"/>
          </a:xfrm>
          <a:prstGeom prst="roundRect">
            <a:avLst>
              <a:gd fmla="val 831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1">
  <p:cSld name="BLANK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1" name="Google Shape;91;p17"/>
          <p:cNvSpPr/>
          <p:nvPr>
            <p:ph idx="2" type="pic"/>
          </p:nvPr>
        </p:nvSpPr>
        <p:spPr>
          <a:xfrm>
            <a:off x="3375025" y="270750"/>
            <a:ext cx="5435100" cy="4602000"/>
          </a:xfrm>
          <a:prstGeom prst="roundRect">
            <a:avLst>
              <a:gd fmla="val 5711" name="adj"/>
            </a:avLst>
          </a:prstGeom>
          <a:noFill/>
          <a:ln>
            <a:noFill/>
          </a:ln>
        </p:spPr>
      </p:sp>
      <p:sp>
        <p:nvSpPr>
          <p:cNvPr id="92" name="Google Shape;92;p17"/>
          <p:cNvSpPr/>
          <p:nvPr>
            <p:ph idx="3" type="pic"/>
          </p:nvPr>
        </p:nvSpPr>
        <p:spPr>
          <a:xfrm>
            <a:off x="333875" y="270750"/>
            <a:ext cx="2816100" cy="2380200"/>
          </a:xfrm>
          <a:prstGeom prst="roundRect">
            <a:avLst>
              <a:gd fmla="val 8310" name="adj"/>
            </a:avLst>
          </a:prstGeom>
          <a:noFill/>
          <a:ln>
            <a:noFill/>
          </a:ln>
        </p:spPr>
      </p:sp>
      <p:sp>
        <p:nvSpPr>
          <p:cNvPr id="93" name="Google Shape;93;p17"/>
          <p:cNvSpPr/>
          <p:nvPr>
            <p:ph idx="4" type="pic"/>
          </p:nvPr>
        </p:nvSpPr>
        <p:spPr>
          <a:xfrm>
            <a:off x="333875" y="2868975"/>
            <a:ext cx="2816100" cy="2003700"/>
          </a:xfrm>
          <a:prstGeom prst="roundRect">
            <a:avLst>
              <a:gd fmla="val 831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"/>
              <a:buNone/>
              <a:defRPr b="1" sz="2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eist"/>
              <a:buChar char="●"/>
              <a:defRPr sz="1800"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○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■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●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○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■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●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○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■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4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548640"/>
            <a:ext cx="2194560" cy="2194560"/>
          </a:xfrm>
          <a:prstGeom prst="ellipse">
            <a:avLst/>
          </a:prstGeom>
          <a:solidFill>
            <a:srgbClr val="B04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89520" y="2926080"/>
            <a:ext cx="1097280" cy="1097280"/>
          </a:xfrm>
          <a:prstGeom prst="ellipse">
            <a:avLst/>
          </a:prstGeom>
          <a:solidFill>
            <a:srgbClr val="001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1DA2"/>
                </a:solidFill>
                <a:latin typeface="Outfit"/>
              </a:rPr>
              <a:t>TAPIN.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44"/>
                </a:solidFill>
                <a:latin typeface="Outfit"/>
              </a:rPr>
              <a:t>Zero-friction loyalty</a:t>
            </a:r>
          </a:p>
          <a:p>
            <a:pPr algn="l"/>
            <a:r>
              <a:rPr sz="2400" b="0" i="0">
                <a:solidFill>
                  <a:srgbClr val="000044"/>
                </a:solidFill>
                <a:latin typeface="Outfit"/>
              </a:rPr>
              <a:t>for boutique studios.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Outfit"/>
              </a:rPr>
              <a:t>Le Wagon Berlin  ·  Project Week  ·  Full-Stack (Rails + JS)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Outfit"/>
              </a:rPr>
              <a:t>Raj  ·  Good Moves Pilates Studio, Berlin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4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82D"/>
                </a:solidFill>
                <a:latin typeface="Outfit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1DA2"/>
                </a:solidFill>
                <a:latin typeface="Outfit"/>
              </a:rPr>
              <a:t>You fill seats. Someone else keeps the customer.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56616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B0482D"/>
                </a:solidFill>
                <a:latin typeface="Outfit"/>
              </a:rPr>
              <a:t>&lt; 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DA2"/>
                </a:solidFill>
                <a:latin typeface="Outfit"/>
              </a:rPr>
              <a:t>The Aggregator 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Outfit"/>
              </a:rPr>
              <a:t>of aggregator users convert to full members. Platforms own the relationship — you build someone else's brand.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645920"/>
            <a:ext cx="356616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7830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1DA2"/>
                </a:solidFill>
                <a:latin typeface="Outfit"/>
              </a:rPr>
              <a:t>5×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560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DA2"/>
                </a:solidFill>
                <a:latin typeface="Outfit"/>
              </a:rPr>
              <a:t>The Retention Math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9260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Outfit"/>
              </a:rPr>
              <a:t>cheaper to retain than acquire. +5% retention → +25–95% profit. Every walk-in who never returns is a missed relationship.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D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DBC3"/>
                </a:solidFill>
                <a:latin typeface="Outfit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Outfit"/>
              </a:rPr>
              <a:t>One tap. No app. Real loyalty.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377440" cy="2468880"/>
          </a:xfrm>
          <a:prstGeom prst="roundRect">
            <a:avLst/>
          </a:prstGeom>
          <a:solidFill>
            <a:srgbClr val="002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DBC3"/>
                </a:solidFill>
                <a:latin typeface="Outfi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Outfit"/>
              </a:rPr>
              <a:t>Tap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EE"/>
                </a:solidFill>
                <a:latin typeface="Outfit"/>
              </a:rPr>
              <a:t>Customer taps NFC tag
at the front desk.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377440" cy="2468880"/>
          </a:xfrm>
          <a:prstGeom prst="roundRect">
            <a:avLst/>
          </a:prstGeom>
          <a:solidFill>
            <a:srgbClr val="002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783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DBC3"/>
                </a:solidFill>
                <a:latin typeface="Outfi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Outfit"/>
              </a:rPr>
              <a:t>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7432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EE"/>
                </a:solidFill>
                <a:latin typeface="Outfit"/>
              </a:rPr>
              <a:t>Types phone number once.
First visit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377440" cy="2468880"/>
          </a:xfrm>
          <a:prstGeom prst="roundRect">
            <a:avLst/>
          </a:prstGeom>
          <a:solidFill>
            <a:srgbClr val="002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DBC3"/>
                </a:solidFill>
                <a:latin typeface="Outfi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Outfit"/>
              </a:rPr>
              <a:t>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432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EE"/>
                </a:solidFill>
                <a:latin typeface="Outfit"/>
              </a:rPr>
              <a:t>9 check-ins = 10th class free.
Progress visible instantly.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66AA"/>
                </a:solidFill>
                <a:latin typeface="Outfit"/>
              </a:rPr>
              <a:t>Rails + Stimulus + PWA  ·  NFC opens a mobile web page — zero downloads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4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482D"/>
                </a:solidFill>
                <a:latin typeface="Outfit"/>
              </a:rPr>
              <a:t>WHY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1DA2"/>
                </a:solidFill>
                <a:latin typeface="Outfit"/>
              </a:rPr>
              <a:t>Built for a real problem.</a:t>
            </a:r>
          </a:p>
          <a:p>
            <a:pPr algn="l"/>
            <a:r>
              <a:rPr sz="2800" b="1" i="0">
                <a:solidFill>
                  <a:srgbClr val="001DA2"/>
                </a:solidFill>
                <a:latin typeface="Outfit"/>
              </a:rPr>
              <a:t>Ready for demo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3774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828800"/>
            <a:ext cx="128016" cy="128016"/>
          </a:xfrm>
          <a:prstGeom prst="ellipse">
            <a:avLst/>
          </a:prstGeom>
          <a:solidFill>
            <a:srgbClr val="B04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1DA2"/>
                </a:solidFill>
                <a:latin typeface="Outfit"/>
              </a:rPr>
              <a:t>Real business
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Outfit"/>
              </a:rPr>
              <a:t>Good Moves loses customers to aggregators every week. This solves a problem I live with daily.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3774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03320" y="1828800"/>
            <a:ext cx="128016" cy="128016"/>
          </a:xfrm>
          <a:prstGeom prst="ellipse">
            <a:avLst/>
          </a:prstGeom>
          <a:solidFill>
            <a:srgbClr val="B04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1DA2"/>
                </a:solidFill>
                <a:latin typeface="Outfit"/>
              </a:rPr>
              <a:t>Right-sized for
project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78892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Outfit"/>
              </a:rPr>
              <a:t>One user flow, four Rails models, Stimulus + PWA. Clear, demoable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23774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1828800"/>
            <a:ext cx="128016" cy="128016"/>
          </a:xfrm>
          <a:prstGeom prst="ellipse">
            <a:avLst/>
          </a:prstGeom>
          <a:solidFill>
            <a:srgbClr val="B04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1DA2"/>
                </a:solidFill>
                <a:latin typeface="Outfit"/>
              </a:rPr>
              <a:t>Demo-ready on
pitch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8892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Outfit"/>
              </a:rPr>
              <a:t>NFC tag on stage → phone opens → check-in logged → progress shown. It sells itself.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ood Moves">
  <a:themeElements>
    <a:clrScheme name="Simple Light">
      <a:dk1>
        <a:srgbClr val="000044"/>
      </a:dk1>
      <a:lt1>
        <a:srgbClr val="FDE7DA"/>
      </a:lt1>
      <a:dk2>
        <a:srgbClr val="4E4E6F"/>
      </a:dk2>
      <a:lt2>
        <a:srgbClr val="FBF6F1"/>
      </a:lt2>
      <a:accent1>
        <a:srgbClr val="B0482D"/>
      </a:accent1>
      <a:accent2>
        <a:srgbClr val="001DA2"/>
      </a:accent2>
      <a:accent3>
        <a:srgbClr val="3C4CAB"/>
      </a:accent3>
      <a:accent4>
        <a:srgbClr val="787CB4"/>
      </a:accent4>
      <a:accent5>
        <a:srgbClr val="D09179"/>
      </a:accent5>
      <a:accent6>
        <a:srgbClr val="C06D53"/>
      </a:accent6>
      <a:hlink>
        <a:srgbClr val="0022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